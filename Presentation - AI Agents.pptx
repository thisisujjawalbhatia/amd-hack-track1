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Helios Extended" charset="1" panose="02000505040000020004"/>
      <p:regular r:id="rId21"/>
    </p:embeddedFont>
    <p:embeddedFont>
      <p:font typeface="Fira Sans Light" charset="1" panose="020B0403050000020004"/>
      <p:regular r:id="rId22"/>
    </p:embeddedFont>
    <p:embeddedFont>
      <p:font typeface="Fira Sans Bold" charset="1" panose="020B080305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9850" cy="10287000"/>
            <a:chOff x="0" y="0"/>
            <a:chExt cx="1690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0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90825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72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7191375" cy="8966200"/>
            <a:chOff x="0" y="0"/>
            <a:chExt cx="1614733" cy="2013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14733" cy="2013248"/>
            </a:xfrm>
            <a:custGeom>
              <a:avLst/>
              <a:gdLst/>
              <a:ahLst/>
              <a:cxnLst/>
              <a:rect r="r" b="b" t="t" l="l"/>
              <a:pathLst>
                <a:path h="2013248" w="1614733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097862" y="0"/>
            <a:ext cx="190138" cy="10287000"/>
            <a:chOff x="0" y="0"/>
            <a:chExt cx="50077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077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5729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882732" y="7178624"/>
            <a:ext cx="8240258" cy="175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9"/>
              </a:lnSpc>
            </a:pPr>
            <a:r>
              <a:rPr lang="en-US" sz="3306">
                <a:solidFill>
                  <a:srgbClr val="AEBFCF"/>
                </a:solidFill>
                <a:latin typeface="Poppins"/>
                <a:ea typeface="Poppins"/>
                <a:cs typeface="Poppins"/>
                <a:sym typeface="Poppins"/>
              </a:rPr>
              <a:t>Team Name: ALPHA 1</a:t>
            </a:r>
          </a:p>
          <a:p>
            <a:pPr algn="l" marL="0" indent="0" lvl="0">
              <a:lnSpc>
                <a:spcPts val="4629"/>
              </a:lnSpc>
            </a:pPr>
            <a:r>
              <a:rPr lang="en-US" sz="3306">
                <a:solidFill>
                  <a:srgbClr val="AEBFCF"/>
                </a:solidFill>
                <a:latin typeface="Poppins"/>
                <a:ea typeface="Poppins"/>
                <a:cs typeface="Poppins"/>
                <a:sym typeface="Poppins"/>
              </a:rPr>
              <a:t>Members: Abhinava Sai, Ujjawal Bhatia</a:t>
            </a:r>
            <a:r>
              <a:rPr lang="en-US" sz="3306">
                <a:solidFill>
                  <a:srgbClr val="AEBFCF"/>
                </a:solidFill>
                <a:latin typeface="Poppins"/>
                <a:ea typeface="Poppins"/>
                <a:cs typeface="Poppins"/>
                <a:sym typeface="Poppins"/>
              </a:rPr>
              <a:t>, Manish, Tarun Gangwar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82732" y="1326839"/>
            <a:ext cx="9903252" cy="315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0"/>
              </a:lnSpc>
            </a:pPr>
            <a:r>
              <a:rPr lang="en-US" sz="10818">
                <a:solidFill>
                  <a:srgbClr val="AEBFCF"/>
                </a:solidFill>
                <a:latin typeface="Poppins"/>
                <a:ea typeface="Poppins"/>
                <a:cs typeface="Poppins"/>
                <a:sym typeface="Poppins"/>
              </a:rPr>
              <a:t>AMD Hackathon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82732" y="4914900"/>
            <a:ext cx="4120129" cy="142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45"/>
              </a:lnSpc>
            </a:pPr>
            <a:r>
              <a:rPr lang="en-US" b="true" sz="7889">
                <a:solidFill>
                  <a:srgbClr val="AEBFCF"/>
                </a:solidFill>
                <a:latin typeface="Poppins Bold"/>
                <a:ea typeface="Poppins Bold"/>
                <a:cs typeface="Poppins Bold"/>
                <a:sym typeface="Poppins Bold"/>
              </a:rPr>
              <a:t>Track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824163"/>
            <a:ext cx="1120140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Competition Overview: Q-Agent vs A-Agent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120140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Competition Format and Scoring Logic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6886575" cy="3036456"/>
            <a:chOff x="0" y="0"/>
            <a:chExt cx="9182100" cy="40486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91821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competition features a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direct confrontation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between Q-Agent and A-Agent. Each agent performs distinct roles: Q-Agent generates questions while A-Agent provides answers, ensuring a dynamic interaction. This format emphasizes the strengths of both agents in a competitive setting.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HEAD-TO-HEAD FORMAT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6886575" cy="2672173"/>
            <a:chOff x="0" y="0"/>
            <a:chExt cx="9182100" cy="35628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7837"/>
              <a:ext cx="9182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Scoring is primarily based on the performance of the A-Agent, which focuses on accuracy and survival. The elimination rounds heavily rely on the A-Agent's ability to respond correctly and efficiently, highlighting its critical role in the overall scoring system.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SCORING LOGIC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381375"/>
            <a:ext cx="1120140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System Architecture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120140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System Architecture Overview: Inputs and Layers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6886575" cy="2672173"/>
            <a:chOff x="0" y="0"/>
            <a:chExt cx="9182100" cy="356289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9182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User inputs are routed to the Q-Agent, which processes these inputs and generates structured JSON questions. This systematic approach ensures clarity in the interaction and maintains a structured format for downstream processing.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USER INPUTS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6886575" cy="2672173"/>
            <a:chOff x="0" y="0"/>
            <a:chExt cx="9182100" cy="35628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7837"/>
              <a:ext cx="91821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Questions from the opponent are directed to the A-Agent, which then produces structured JSON answers. This separation of concerns allows for optimized task management and improves the efficiency of the overall system architecture.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OPPONENT QUESTIONS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381375"/>
            <a:ext cx="1120140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Model Selection and Token Constraints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Model Selection Strategy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027709"/>
            <a:chOff x="0" y="0"/>
            <a:chExt cx="53340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Mistral-7B model was selected for the Q-Agent due to its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speed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and ability to generate structured output swiftly, meeting our competition's requirements.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Q-AGENT SELECTION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027709"/>
            <a:chOff x="0" y="0"/>
            <a:chExt cx="53467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Qwen-14B model was chosen for the A-Agent, providing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superior reasoning capabilities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essential for accurate answer generation under competitive conditions.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A-AGENT SELECTION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120626"/>
            <a:chOff x="0" y="0"/>
            <a:chExt cx="5346700" cy="416083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755775"/>
              <a:ext cx="5346700" cy="2405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Smaller models were rejected as they failed to meet our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accuracy and time constraints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, critical for maintaining performance during the competition interactions.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REJECTION OF SMALLER MODELS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Token and Time Constraints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027709"/>
            <a:chOff x="0" y="0"/>
            <a:chExt cx="5334000" cy="40369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The total token limit is capped at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1024 tokens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per interaction. This constraint includes both question and answer components, ensuring efficient communication between agents.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TOKEN LIMIT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Response time targets are set at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less than 13 seconds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for questions and </a:t>
              </a:r>
              <a:r>
                <a:rPr lang="en-US" b="true" sz="2099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less than 9 seconds</a:t>
              </a: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for answers, emphasizing the need for speed and efficiency in agent performance.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RESPONSE TIME TARGETS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756275"/>
            <a:chOff x="0" y="0"/>
            <a:chExt cx="5346700" cy="5008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862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Implementing token budgeting and efficient prompt design, alongside strict decoding control, addresses the outlined constraints, optimizing performance while maintaining compliance with competition standards.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ENGINEERING SOLUTIONS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824163"/>
            <a:ext cx="1120140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Agent Design: Strategies and 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Agent Design Overview: Q-Agent &amp; A-Agent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Q-Agent focuses on generating strict, structured JSON outputs, enhancing clarity in question formulation while employing distractor designs to increase challenge and engagement during interactions.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Q-AGENT DESIGN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756275"/>
            <a:chOff x="0" y="0"/>
            <a:chExt cx="5346700" cy="500836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862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A-Agent utilizes greedy decoding for deterministic output and emphasizes reasoning capabilities, ensuring reliability and precision in answer generation, crucial for competitive performance in rounds.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A-AGENT DESIGN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391992"/>
            <a:chOff x="0" y="0"/>
            <a:chExt cx="5346700" cy="45226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Comprehensive validation mechanisms are in place to ensure compliance with JSON formatting and content rules, minimizing errors and ensuring the integrity of the responses provided by the A-Agent.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ANSWER VALIDATION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266950"/>
            <a:ext cx="11201400" cy="453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Training, Optimization, and Compliance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Training Strategy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3391992"/>
            <a:chOff x="0" y="0"/>
            <a:chExt cx="5334000" cy="452265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custom dataset generation pipeline was implemented, resulting in over 2000 samples per topic, ensuring comprehensive coverage and diversity for robust training of both agents.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DATASET GENERATION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391992"/>
            <a:chOff x="0" y="0"/>
            <a:chExt cx="5346700" cy="45226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3376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deduplication process was employed to remove redundant samples, enhancing model generalization and improving overall performance by eliminating noise from the training dataset.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DEDUPLICATION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3027709"/>
            <a:chOff x="0" y="0"/>
            <a:chExt cx="5346700" cy="40369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AEBFC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LoRA fine-tuning was conducted with ranks of 16–32 and a learning rate of 2e-5 for 2–3 epochs, optimizing model performance while maintaining computational efficiency.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AEBFCF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LORA FINE-TUNING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D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49965" y="4190830"/>
            <a:ext cx="12788070" cy="210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06"/>
              </a:lnSpc>
            </a:pPr>
            <a:r>
              <a:rPr lang="en-US" sz="15206">
                <a:solidFill>
                  <a:srgbClr val="AEBFC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THANK YOU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096128" y="0"/>
            <a:ext cx="191872" cy="10287000"/>
            <a:chOff x="0" y="0"/>
            <a:chExt cx="5053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34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534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EBF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 Agents</dc:description>
  <dc:identifier>DAHBYOnDTUc</dc:identifier>
  <dcterms:modified xsi:type="dcterms:W3CDTF">2011-08-01T06:04:30Z</dcterms:modified>
  <cp:revision>1</cp:revision>
  <dc:title>Presentation - AI Agents</dc:title>
</cp:coreProperties>
</file>